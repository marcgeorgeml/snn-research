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A47BFA-B04F-455F-8298-30BB381FDF27}">
          <p14:sldIdLst>
            <p14:sldId id="256"/>
            <p14:sldId id="257"/>
          </p14:sldIdLst>
        </p14:section>
        <p14:section name="bottom" id="{4946C49F-2CD6-4710-8EBE-1CD44944C7DB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C13D75-BC98-4550-9D38-3698ECD6A642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BB73C-A374-48FF-B61A-B8BCA48795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0661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0A2E-8691-548C-29DE-69E2A0495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76214-4232-73D9-C276-E1F43A5F91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337EFD-1AF2-E0C3-51E8-07838508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6387B-71EC-4EDF-BA65-70545130D65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6E289-43AC-8F5D-4FAD-6A9676562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856EE-ED97-E240-A2B4-3C19DEB8C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E76D2-3BB1-454B-96A9-F1358E85B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4056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84802-A892-6D76-5B58-542BDBD9E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05D65-8B04-346D-2038-EE5B8F24D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00F5D-EB8D-D3F9-9EA4-2EA7EFAC3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6387B-71EC-4EDF-BA65-70545130D65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EAD9B7-579C-CB2F-F50C-B705FDCBB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3E55D-044E-7967-5501-448E8CA4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E76D2-3BB1-454B-96A9-F1358E85B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617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3CE8B-26AB-8382-8EBC-C494269D0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8A6D7-7664-1E0C-6A0D-419D0B385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2B62-2BB7-C17E-F1EB-9AE8F0FF6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6387B-71EC-4EDF-BA65-70545130D65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C67B8-4C20-6624-B066-A13957DC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FD7AC-7D9C-2C62-4072-3689AB1D0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E76D2-3BB1-454B-96A9-F1358E85B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301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40109-F574-9689-BACA-920C8350F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1B2B0-0EBE-672A-1522-1B60496A6A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6C506A-7678-6D27-759C-58BF86177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5A10C-6386-6F7E-990E-A93788BD4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6387B-71EC-4EDF-BA65-70545130D65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361ED-E3E5-14EA-ADA5-14EEE4B26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367031-DA94-D9BC-898E-67931500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E76D2-3BB1-454B-96A9-F1358E85B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80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E7E46-5117-4F12-0C75-0AD3E4850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44244-146E-ADB7-D35B-D267009F0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4A9D1-5C05-44E6-C032-D484ED951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CD6A27-E276-9522-A142-E7E9CF74A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39A72E-19A1-BDEB-45F3-E7D2D42F2C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7689DA-62CA-E7CD-381B-838DFECE6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6387B-71EC-4EDF-BA65-70545130D65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790A99-7862-F1CA-66F5-A1AC2C322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F19BA0-1A66-F7C1-771E-0BEC39A6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E76D2-3BB1-454B-96A9-F1358E85B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658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A9D1E-67B1-24E0-F409-269B8480C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73FCF4-8E16-5782-8BB8-FAEB08F1F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6387B-71EC-4EDF-BA65-70545130D65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B787E3-7958-6E13-FBC5-61CE5B67A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A3C60E-52C6-A221-C3A0-364A2A26E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E76D2-3BB1-454B-96A9-F1358E85B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41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3CE91A-5C52-0E60-A0D3-ED17EC6B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6387B-71EC-4EDF-BA65-70545130D65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0BA0B1-291A-A66A-F2C2-0FB38A396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95ADA-FFD3-CCA3-D8F7-99C518B2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E76D2-3BB1-454B-96A9-F1358E85B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777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040FB-79DA-4457-C2D4-31B0916AE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D24BC-9623-A94F-2051-BEBCF1642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35156-0D98-D58D-7FBB-7A7658DCD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54841-1E51-3AFE-57B0-3508466BC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6387B-71EC-4EDF-BA65-70545130D65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1656F-B538-41FE-3BC4-E1FD5520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D44784-AC48-E675-5CD3-E9BEC8A09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E76D2-3BB1-454B-96A9-F1358E85B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902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73568-54F7-4E1F-BCA5-26EAF6CA6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6795BA-9FB0-0B7F-9FD0-8CF720F471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2D028-9A7E-3039-B9F0-BCAD14AFC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5D815-5367-A1AC-8E9E-F753BC963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6387B-71EC-4EDF-BA65-70545130D65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BB2D9-E05D-704A-D608-AD028B0AA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3D718-07C9-B852-61D3-68530835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E76D2-3BB1-454B-96A9-F1358E85B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764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A9806-357A-A3A2-55AE-D416071E2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2B2740-7CCE-A8A8-8586-551363BF2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1721F-046B-5E69-DEE4-5270F3467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6387B-71EC-4EDF-BA65-70545130D65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604FC-0119-87A0-8929-ADD278973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74DD-5C66-2697-942E-2CB614F6D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E76D2-3BB1-454B-96A9-F1358E85B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673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7B6E88-176D-32E9-461E-182C48D146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0590A3-B6C8-E492-167D-950123EB74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1144-FBA0-0C1E-CE24-967B62D17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6387B-71EC-4EDF-BA65-70545130D65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DBE09-050B-DC33-11DD-2A70A289C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EB01F-839C-BA7A-3D61-15188F55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E76D2-3BB1-454B-96A9-F1358E85B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48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630ADF-277D-A9A7-3F51-609E1C57F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61411-7F40-22E4-180C-9856EACB9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53FB0-1DC5-D0BD-9E9D-A80E06FC18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66387B-71EC-4EDF-BA65-70545130D65D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DDA4F-5AB9-84C8-0FD9-AB1461380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F7758-8D84-AC28-B960-A705DAE75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E76D2-3BB1-454B-96A9-F1358E85B4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091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20C0F8BD-5462-587C-1D32-446B97E502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8705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“Multimodal Spiking Neural Network for Emotion Recognition:</a:t>
            </a:r>
            <a:endParaRPr lang="en-IN" dirty="0"/>
          </a:p>
        </p:txBody>
      </p:sp>
      <p:sp>
        <p:nvSpPr>
          <p:cNvPr id="18" name="Subtitle 17">
            <a:extLst>
              <a:ext uri="{FF2B5EF4-FFF2-40B4-BE49-F238E27FC236}">
                <a16:creationId xmlns:a16="http://schemas.microsoft.com/office/drawing/2014/main" id="{65652A71-1217-70E4-2553-4F75480192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37728"/>
            <a:ext cx="9144000" cy="1655762"/>
          </a:xfrm>
        </p:spPr>
        <p:txBody>
          <a:bodyPr/>
          <a:lstStyle/>
          <a:p>
            <a:r>
              <a:rPr lang="en-IN" dirty="0"/>
              <a:t>Marc George</a:t>
            </a:r>
          </a:p>
          <a:p>
            <a:r>
              <a:rPr lang="en-US" sz="1400" dirty="0"/>
              <a:t>Keywords: SNN, multimodal fusion, emotion classification, audio–visual–text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217976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74F1-3962-0CD2-2986-87CDFEC02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Main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F4EF7-6CE4-171D-44FD-66295451E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2873" y="1690688"/>
            <a:ext cx="10224654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Despite recent advances in emotion recognition using Spiking Neural Networks (SNNs), </a:t>
            </a:r>
            <a:r>
              <a:rPr lang="en-US" b="1" dirty="0"/>
              <a:t>most existing methods (e.g., S-CMRL)</a:t>
            </a:r>
            <a:r>
              <a:rPr lang="en-US" dirty="0"/>
              <a:t> are limited to </a:t>
            </a:r>
            <a:r>
              <a:rPr lang="en-US" b="1" dirty="0"/>
              <a:t>audio-visual fusion</a:t>
            </a:r>
            <a:r>
              <a:rPr lang="en-US" dirty="0"/>
              <a:t> and do not fully exploit </a:t>
            </a:r>
            <a:r>
              <a:rPr lang="en-US" b="1" dirty="0"/>
              <a:t>cross-modal temporal dependencies</a:t>
            </a:r>
            <a:r>
              <a:rPr lang="en-US" dirty="0"/>
              <a:t> or </a:t>
            </a:r>
            <a:r>
              <a:rPr lang="en-US" b="1" dirty="0"/>
              <a:t>additional modalities like text</a:t>
            </a:r>
            <a:r>
              <a:rPr lang="en-US" dirty="0"/>
              <a:t>.</a:t>
            </a:r>
          </a:p>
          <a:p>
            <a:r>
              <a:rPr lang="en-US" dirty="0"/>
              <a:t>Furthermore, </a:t>
            </a:r>
            <a:r>
              <a:rPr lang="en-US" b="1" dirty="0"/>
              <a:t>monomodal SNNs</a:t>
            </a:r>
            <a:r>
              <a:rPr lang="en-US" dirty="0"/>
              <a:t> (e.g., audio-only) struggle to generalize across emotional contexts due to information loss from missing modalities and suboptimal spike encoding strategies.</a:t>
            </a:r>
          </a:p>
          <a:p>
            <a:r>
              <a:rPr lang="en-US" dirty="0"/>
              <a:t>Our goal is to </a:t>
            </a:r>
            <a:r>
              <a:rPr lang="en-US" b="1" dirty="0"/>
              <a:t>develop a unified multimodal SNN architecture</a:t>
            </a:r>
            <a:r>
              <a:rPr lang="en-US" dirty="0"/>
              <a:t> that integrates </a:t>
            </a:r>
            <a:r>
              <a:rPr lang="en-US" b="1" dirty="0"/>
              <a:t>audio, video, and text</a:t>
            </a:r>
            <a:r>
              <a:rPr lang="en-US" dirty="0"/>
              <a:t> streams using biologically inspired spike encodings to improve both </a:t>
            </a:r>
            <a:r>
              <a:rPr lang="en-US" b="1" dirty="0"/>
              <a:t>accuracy</a:t>
            </a:r>
            <a:r>
              <a:rPr lang="en-US" dirty="0"/>
              <a:t> and </a:t>
            </a:r>
            <a:r>
              <a:rPr lang="en-US" b="1" dirty="0"/>
              <a:t>energy efficiency</a:t>
            </a:r>
            <a:r>
              <a:rPr lang="en-US" dirty="0"/>
              <a:t> over existing baselines.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5409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87B49-5AAC-418E-C1D2-0F745B80C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22167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/>
              <a:t>Artificial Neural Networks vs. Spiking Neural Networks</a:t>
            </a:r>
            <a:endParaRPr lang="en-IN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1CC41A-5538-7F52-26B6-B145E68E93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7340721"/>
              </p:ext>
            </p:extLst>
          </p:nvPr>
        </p:nvGraphicFramePr>
        <p:xfrm>
          <a:off x="914400" y="1436846"/>
          <a:ext cx="10439397" cy="397521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479799">
                  <a:extLst>
                    <a:ext uri="{9D8B030D-6E8A-4147-A177-3AD203B41FA5}">
                      <a16:colId xmlns:a16="http://schemas.microsoft.com/office/drawing/2014/main" val="1578526060"/>
                    </a:ext>
                  </a:extLst>
                </a:gridCol>
                <a:gridCol w="3479799">
                  <a:extLst>
                    <a:ext uri="{9D8B030D-6E8A-4147-A177-3AD203B41FA5}">
                      <a16:colId xmlns:a16="http://schemas.microsoft.com/office/drawing/2014/main" val="262236936"/>
                    </a:ext>
                  </a:extLst>
                </a:gridCol>
                <a:gridCol w="3479799">
                  <a:extLst>
                    <a:ext uri="{9D8B030D-6E8A-4147-A177-3AD203B41FA5}">
                      <a16:colId xmlns:a16="http://schemas.microsoft.com/office/drawing/2014/main" val="259069764"/>
                    </a:ext>
                  </a:extLst>
                </a:gridCol>
              </a:tblGrid>
              <a:tr h="2075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Aspect</a:t>
                      </a:r>
                      <a:endParaRPr lang="en-IN" sz="14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Artificial Neural Networks (ANNs)</a:t>
                      </a:r>
                      <a:endParaRPr lang="en-IN" sz="14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Spiking Neural Networks (SNNs)</a:t>
                      </a:r>
                      <a:endParaRPr lang="en-IN" sz="1400"/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038582035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Neuron Model</a:t>
                      </a:r>
                      <a:endParaRPr lang="en-IN" sz="14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Continuous activations (ReLU, sigmoid, etc.)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Event-driven spikes; neurons fire only when threshold is reached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571583345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Information Encoding</a:t>
                      </a:r>
                      <a:endParaRPr lang="en-IN" sz="14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Real-valued signals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Temporal spike trains (binary events over time)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235468253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Temporal Processing</a:t>
                      </a:r>
                      <a:endParaRPr lang="en-IN" sz="14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Implicit via RNNs or Transformers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Intrinsic — time is an inherent dimension in computation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344682608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Energy Efficiency</a:t>
                      </a:r>
                      <a:endParaRPr lang="en-IN" sz="14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High power consumption due to dense computations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Low power — event-driven, sparse updates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604360426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Hardware Compatibility</a:t>
                      </a:r>
                      <a:endParaRPr lang="en-IN" sz="14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CPU/GPU optimized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Neuromorphic hardware (e.g., Loihi, SpiNNaker) optimized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346187841"/>
                  </a:ext>
                </a:extLst>
              </a:tr>
              <a:tr h="3636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Biological Plausibility</a:t>
                      </a:r>
                      <a:endParaRPr lang="en-IN" sz="14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Abstract mathematical model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Mimics biological neurons and synaptic plasticity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714434291"/>
                  </a:ext>
                </a:extLst>
              </a:tr>
              <a:tr h="519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Suitability for Emotion Recognition</a:t>
                      </a:r>
                      <a:endParaRPr lang="en-IN" sz="1400" dirty="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Effective for static patterns but poor at capturing fine-grained temporal emotion cues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Naturally models dynamic, time-varying multimodal signals like tone, facial </a:t>
                      </a:r>
                      <a:r>
                        <a:rPr lang="en-US" sz="1400" dirty="0" err="1"/>
                        <a:t>microexpressions</a:t>
                      </a:r>
                      <a:r>
                        <a:rPr lang="en-US" sz="1400" dirty="0"/>
                        <a:t>, and linguistic rhythm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40208230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E3BBD4B-2496-B304-1E48-8E89060C8CB1}"/>
              </a:ext>
            </a:extLst>
          </p:cNvPr>
          <p:cNvSpPr txBox="1"/>
          <p:nvPr/>
        </p:nvSpPr>
        <p:spPr>
          <a:xfrm>
            <a:off x="914401" y="5523346"/>
            <a:ext cx="104393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“While ANNs excel at static feature extraction, SNNs provide a biologically inspired framework for temporal, energy-efficient processing — making them ideal for multimodal emotion classification tasks involving dynamic cues from audio, video, and text.”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0070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7269-6C2A-C3D0-F531-139B86D8B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Data Pipeline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1C677-4B46-154A-9657-87F5A4C25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IN" sz="1600" b="1" dirty="0"/>
              <a:t>Stage A — Preprocessing &amp; Caching</a:t>
            </a:r>
          </a:p>
          <a:p>
            <a:r>
              <a:rPr lang="en-IN" sz="1600" b="1" dirty="0"/>
              <a:t>Input:</a:t>
            </a:r>
            <a:r>
              <a:rPr lang="en-IN" sz="1600" dirty="0"/>
              <a:t> Raw video (.mp4), audio (.wav), and text (.txt).</a:t>
            </a:r>
          </a:p>
          <a:p>
            <a:r>
              <a:rPr lang="en-IN" sz="1600" b="1" dirty="0"/>
              <a:t>Operations:</a:t>
            </a:r>
            <a:endParaRPr lang="en-IN" sz="1600" dirty="0"/>
          </a:p>
          <a:p>
            <a:pPr lvl="1"/>
            <a:r>
              <a:rPr lang="en-IN" sz="1400" dirty="0"/>
              <a:t>Video → resize 224×224, fixed FPS (24), normalize [0, 1].</a:t>
            </a:r>
          </a:p>
          <a:p>
            <a:pPr lvl="1"/>
            <a:r>
              <a:rPr lang="en-IN" sz="1400" dirty="0"/>
              <a:t>Audio → mono conversion, amplitude normalization [-1, 1].</a:t>
            </a:r>
          </a:p>
          <a:p>
            <a:pPr lvl="1"/>
            <a:r>
              <a:rPr lang="en-IN" sz="1400" dirty="0"/>
              <a:t>Text → token cleaning &amp; punctuation standardization.</a:t>
            </a:r>
          </a:p>
          <a:p>
            <a:r>
              <a:rPr lang="en-IN" sz="1600" b="1" dirty="0"/>
              <a:t>Output:</a:t>
            </a:r>
            <a:r>
              <a:rPr lang="en-IN" sz="1600" dirty="0"/>
              <a:t> .</a:t>
            </a:r>
            <a:r>
              <a:rPr lang="en-IN" sz="1600" dirty="0" err="1"/>
              <a:t>npz</a:t>
            </a:r>
            <a:r>
              <a:rPr lang="en-IN" sz="1600" dirty="0"/>
              <a:t> cache files per modality.</a:t>
            </a:r>
          </a:p>
          <a:p>
            <a:r>
              <a:rPr lang="en-US" sz="1600" b="1" dirty="0"/>
              <a:t>Purpose:</a:t>
            </a:r>
            <a:r>
              <a:rPr lang="en-US" sz="1600" dirty="0"/>
              <a:t> Uniform, noise-reduced, easily reloadable dataset for GPU feature extraction.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IN" sz="1600" b="1" dirty="0"/>
              <a:t>Stage B — Feature Extraction</a:t>
            </a:r>
          </a:p>
          <a:p>
            <a:r>
              <a:rPr lang="en-IN" sz="1600" b="1" dirty="0"/>
              <a:t>Video:</a:t>
            </a:r>
            <a:r>
              <a:rPr lang="en-IN" sz="1600" dirty="0"/>
              <a:t> CLIP / </a:t>
            </a:r>
            <a:r>
              <a:rPr lang="en-IN" sz="1600" dirty="0" err="1"/>
              <a:t>ResNet</a:t>
            </a:r>
            <a:r>
              <a:rPr lang="en-IN" sz="1600" dirty="0"/>
              <a:t> backbone → frame-wise embeddings.</a:t>
            </a:r>
          </a:p>
          <a:p>
            <a:r>
              <a:rPr lang="en-IN" sz="1600" b="1" dirty="0"/>
              <a:t>Audio:</a:t>
            </a:r>
            <a:r>
              <a:rPr lang="en-IN" sz="1600" dirty="0"/>
              <a:t> Mel-spectrogram + CNN / CLIP-Audio embeddings.</a:t>
            </a:r>
          </a:p>
          <a:p>
            <a:r>
              <a:rPr lang="en-IN" sz="1600" b="1" dirty="0"/>
              <a:t>Text:</a:t>
            </a:r>
            <a:r>
              <a:rPr lang="en-IN" sz="1600" dirty="0"/>
              <a:t> Transformer encoder (BERT / </a:t>
            </a:r>
            <a:r>
              <a:rPr lang="en-IN" sz="1600" dirty="0" err="1"/>
              <a:t>DistilBERT</a:t>
            </a:r>
            <a:r>
              <a:rPr lang="en-IN" sz="1600" dirty="0"/>
              <a:t>) embeddings.</a:t>
            </a:r>
          </a:p>
          <a:p>
            <a:r>
              <a:rPr lang="en-IN" sz="1600" dirty="0"/>
              <a:t>Each modality stored as compressed feature arrays:</a:t>
            </a:r>
          </a:p>
          <a:p>
            <a:r>
              <a:rPr lang="en-US" sz="1600" b="1" dirty="0"/>
              <a:t>Goal:</a:t>
            </a:r>
            <a:r>
              <a:rPr lang="en-US" sz="1600" dirty="0"/>
              <a:t> Convert high-dimensional inputs into modality-specific latent spaces.</a:t>
            </a:r>
          </a:p>
          <a:p>
            <a:endParaRPr lang="en-US" sz="1600" dirty="0"/>
          </a:p>
          <a:p>
            <a:r>
              <a:rPr lang="en-US" sz="1600" b="1" dirty="0"/>
              <a:t>Stage C — Fusion &amp; Alignment</a:t>
            </a:r>
          </a:p>
          <a:p>
            <a:r>
              <a:rPr lang="en-US" sz="1600" dirty="0"/>
              <a:t>Synchronize modalities using timestamp alignment.</a:t>
            </a:r>
          </a:p>
          <a:p>
            <a:r>
              <a:rPr lang="en-US" sz="1600" dirty="0"/>
              <a:t>Fuse features using concatenation + attention or gating.</a:t>
            </a:r>
          </a:p>
          <a:p>
            <a:r>
              <a:rPr lang="en-US" sz="1600" dirty="0"/>
              <a:t>Prepare for spike encoding (Stage D in your model training loop).</a:t>
            </a:r>
          </a:p>
          <a:p>
            <a:endParaRPr lang="en-US" sz="1600" dirty="0"/>
          </a:p>
          <a:p>
            <a:pPr marL="0" indent="0">
              <a:buNone/>
            </a:pPr>
            <a:endParaRPr lang="en-IN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617388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07275-9606-41A4-E241-800AE7A2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Spike Train Generation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BB2E8-3C18-C975-3B79-FCA95002B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6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1800" b="1" dirty="0"/>
              <a:t>Normalization</a:t>
            </a:r>
          </a:p>
          <a:p>
            <a:pPr marL="0" indent="0">
              <a:buNone/>
            </a:pPr>
            <a:r>
              <a:rPr lang="en-US" sz="1800" dirty="0"/>
              <a:t>Each modality’s feature vector normalized to [0, 1]</a:t>
            </a:r>
            <a:br>
              <a:rPr lang="en-US" sz="1800" dirty="0"/>
            </a:br>
            <a:r>
              <a:rPr lang="en-US" sz="1800" dirty="0"/>
              <a:t>→ ensures consistent spike generation thresholds.</a:t>
            </a:r>
          </a:p>
          <a:p>
            <a:pPr marL="0" indent="0">
              <a:buNone/>
            </a:pPr>
            <a:r>
              <a:rPr lang="en-US" sz="1800" b="1" dirty="0"/>
              <a:t>Spike Encoding per Modality</a:t>
            </a:r>
          </a:p>
          <a:p>
            <a:pPr marL="0" indent="0">
              <a:buNone/>
            </a:pPr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Spike Train Generation</a:t>
            </a:r>
          </a:p>
          <a:p>
            <a:r>
              <a:rPr lang="en-US" sz="1800" dirty="0"/>
              <a:t>For each timestep </a:t>
            </a:r>
            <a:r>
              <a:rPr lang="en-US" sz="1800" i="1" dirty="0"/>
              <a:t>t</a:t>
            </a:r>
            <a:r>
              <a:rPr lang="en-US" sz="1800" dirty="0"/>
              <a:t>, features converted to binary spikes (1 = fired, 0 = silent).</a:t>
            </a:r>
          </a:p>
          <a:p>
            <a:r>
              <a:rPr lang="en-US" sz="1800" dirty="0"/>
              <a:t>Temporal window slides across modalities for alignment.</a:t>
            </a:r>
          </a:p>
          <a:p>
            <a:pPr marL="0" indent="0">
              <a:buNone/>
            </a:pPr>
            <a:r>
              <a:rPr lang="en-IN" sz="1800" b="1" dirty="0"/>
              <a:t>Benefits</a:t>
            </a:r>
          </a:p>
          <a:p>
            <a:r>
              <a:rPr lang="en-IN" sz="1800" dirty="0"/>
              <a:t>Enables </a:t>
            </a:r>
            <a:r>
              <a:rPr lang="en-IN" sz="1800" b="1" dirty="0"/>
              <a:t>event-driven training</a:t>
            </a:r>
            <a:r>
              <a:rPr lang="en-IN" sz="1800" dirty="0"/>
              <a:t> (energy-efficient).</a:t>
            </a:r>
          </a:p>
          <a:p>
            <a:r>
              <a:rPr lang="en-IN" sz="1800" dirty="0"/>
              <a:t>Captures </a:t>
            </a:r>
            <a:r>
              <a:rPr lang="en-IN" sz="1800" b="1" dirty="0"/>
              <a:t>temporal emotion dynamics</a:t>
            </a:r>
            <a:r>
              <a:rPr lang="en-IN" sz="1800" dirty="0"/>
              <a:t> naturally.</a:t>
            </a:r>
          </a:p>
          <a:p>
            <a:r>
              <a:rPr lang="en-IN" sz="1800" dirty="0"/>
              <a:t>Allows </a:t>
            </a:r>
            <a:r>
              <a:rPr lang="en-IN" sz="1800" b="1" dirty="0"/>
              <a:t>cross-modal synchronization</a:t>
            </a:r>
            <a:r>
              <a:rPr lang="en-IN" sz="1800" dirty="0"/>
              <a:t> in spiking domain.</a:t>
            </a:r>
          </a:p>
          <a:p>
            <a:r>
              <a:rPr lang="en-IN" sz="1800" dirty="0"/>
              <a:t>Significantly improves </a:t>
            </a:r>
            <a:r>
              <a:rPr lang="en-IN" sz="1800" b="1" dirty="0"/>
              <a:t>accuracy and robustness</a:t>
            </a:r>
            <a:r>
              <a:rPr lang="en-IN" sz="1800" dirty="0"/>
              <a:t> vs. mono-modal baselines.</a:t>
            </a:r>
          </a:p>
          <a:p>
            <a:endParaRPr lang="en-US" sz="1800" dirty="0"/>
          </a:p>
          <a:p>
            <a:pPr marL="0" indent="0">
              <a:buNone/>
            </a:pPr>
            <a:endParaRPr lang="en-IN" sz="1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E26E24-D23F-EE33-6927-491A9E058E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850788"/>
              </p:ext>
            </p:extLst>
          </p:nvPr>
        </p:nvGraphicFramePr>
        <p:xfrm>
          <a:off x="838200" y="3271982"/>
          <a:ext cx="4618182" cy="1645920"/>
        </p:xfrm>
        <a:graphic>
          <a:graphicData uri="http://schemas.openxmlformats.org/drawingml/2006/table">
            <a:tbl>
              <a:tblPr/>
              <a:tblGrid>
                <a:gridCol w="1539394">
                  <a:extLst>
                    <a:ext uri="{9D8B030D-6E8A-4147-A177-3AD203B41FA5}">
                      <a16:colId xmlns:a16="http://schemas.microsoft.com/office/drawing/2014/main" val="4045789498"/>
                    </a:ext>
                  </a:extLst>
                </a:gridCol>
                <a:gridCol w="1539394">
                  <a:extLst>
                    <a:ext uri="{9D8B030D-6E8A-4147-A177-3AD203B41FA5}">
                      <a16:colId xmlns:a16="http://schemas.microsoft.com/office/drawing/2014/main" val="2368040133"/>
                    </a:ext>
                  </a:extLst>
                </a:gridCol>
                <a:gridCol w="1539394">
                  <a:extLst>
                    <a:ext uri="{9D8B030D-6E8A-4147-A177-3AD203B41FA5}">
                      <a16:colId xmlns:a16="http://schemas.microsoft.com/office/drawing/2014/main" val="393230914"/>
                    </a:ext>
                  </a:extLst>
                </a:gridCol>
              </a:tblGrid>
              <a:tr h="2280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Modality</a:t>
                      </a:r>
                      <a:endParaRPr lang="en-IN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Encoding</a:t>
                      </a:r>
                      <a:endParaRPr lang="en-IN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Description</a:t>
                      </a:r>
                      <a:endParaRPr lang="en-IN" sz="105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6486785"/>
                  </a:ext>
                </a:extLst>
              </a:tr>
              <a:tr h="36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🎧 Audio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Rate coding</a:t>
                      </a:r>
                      <a:endParaRPr lang="en-IN" sz="105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Spike frequency ∝ Mel energy.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712007"/>
                  </a:ext>
                </a:extLst>
              </a:tr>
              <a:tr h="3632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🎥 Video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Temporal coding</a:t>
                      </a:r>
                      <a:endParaRPr lang="en-IN" sz="105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Motion/brightness → spike timing.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35030"/>
                  </a:ext>
                </a:extLst>
              </a:tr>
              <a:tr h="5059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💬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Population coding</a:t>
                      </a:r>
                      <a:endParaRPr lang="en-IN" sz="105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Word embeddings distributed over neuron group thresholds.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881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5342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B95C3-AF4D-9416-7668-8ECC3578E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Multimodal CNN–SNN Hybrid Model for Emotion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A1D0E-CCCE-E166-6F63-BE386F55F2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564" y="3014446"/>
            <a:ext cx="10515600" cy="829108"/>
          </a:xfrm>
        </p:spPr>
        <p:txBody>
          <a:bodyPr numCol="2">
            <a:normAutofit/>
          </a:bodyPr>
          <a:lstStyle/>
          <a:p>
            <a:r>
              <a:rPr lang="en-IN" sz="1600" b="1" dirty="0"/>
              <a:t>Architecture Pipeline</a:t>
            </a:r>
          </a:p>
          <a:p>
            <a:endParaRPr lang="en-IN" sz="1600" dirty="0"/>
          </a:p>
          <a:p>
            <a:r>
              <a:rPr lang="en-IN" sz="1600" b="1" dirty="0"/>
              <a:t>Architecture Overview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451E624-C8D8-D504-C4A5-D4E1D3A00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215595"/>
              </p:ext>
            </p:extLst>
          </p:nvPr>
        </p:nvGraphicFramePr>
        <p:xfrm>
          <a:off x="302491" y="3422071"/>
          <a:ext cx="5257800" cy="2994711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8634074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2215477"/>
                    </a:ext>
                  </a:extLst>
                </a:gridCol>
              </a:tblGrid>
              <a:tr h="199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Stage</a:t>
                      </a:r>
                      <a:endParaRPr lang="en-IN" sz="900" dirty="0"/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Description</a:t>
                      </a:r>
                      <a:endParaRPr lang="en-IN" sz="900"/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382891859"/>
                  </a:ext>
                </a:extLst>
              </a:tr>
              <a:tr h="462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🎧 </a:t>
                      </a:r>
                      <a:r>
                        <a:rPr lang="en-IN" sz="900" b="1" dirty="0"/>
                        <a:t>Modality Encoders</a:t>
                      </a:r>
                      <a:endParaRPr lang="en-IN" sz="900" dirty="0"/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Separate CNN encoders process audio (mel-spectrogram), video (frame embeddings), and text (sentence embeddings).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4004514326"/>
                  </a:ext>
                </a:extLst>
              </a:tr>
              <a:tr h="462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⚡ </a:t>
                      </a:r>
                      <a:r>
                        <a:rPr lang="en-IN" sz="900" b="1" dirty="0"/>
                        <a:t>Spike Projection</a:t>
                      </a:r>
                      <a:endParaRPr lang="en-IN" sz="900" dirty="0"/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Each encoder output projected through a learnable linear layer to form input currents for Leaky Integrate-and-Fire (LIF) neurons.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81757158"/>
                  </a:ext>
                </a:extLst>
              </a:tr>
              <a:tr h="462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/>
                        <a:t>🧠 </a:t>
                      </a:r>
                      <a:r>
                        <a:rPr lang="en-US" sz="900" b="1"/>
                        <a:t>Spiking Layer (Temporal Core)</a:t>
                      </a:r>
                      <a:endParaRPr lang="en-US" sz="900"/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LIF neurons accumulate potentials across time; spikes are generated when thresholds are crossed, preserving fine-grained temporal cues.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449195299"/>
                  </a:ext>
                </a:extLst>
              </a:tr>
              <a:tr h="462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🔄 </a:t>
                      </a:r>
                      <a:r>
                        <a:rPr lang="en-IN" sz="900" b="1"/>
                        <a:t>Hybrid Readout Mechanism</a:t>
                      </a:r>
                      <a:endParaRPr lang="en-IN" sz="900"/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Combines average spike-rate features with final membrane potentials → balances temporal precision and stable representations.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3516504565"/>
                  </a:ext>
                </a:extLst>
              </a:tr>
              <a:tr h="3721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🎯 </a:t>
                      </a:r>
                      <a:r>
                        <a:rPr lang="en-IN" sz="900" b="1" dirty="0"/>
                        <a:t>Classifier Head</a:t>
                      </a:r>
                      <a:endParaRPr lang="en-IN" sz="900" dirty="0"/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Fully connected + </a:t>
                      </a:r>
                      <a:r>
                        <a:rPr lang="en-US" sz="900" dirty="0" err="1"/>
                        <a:t>LayerNorm</a:t>
                      </a:r>
                      <a:r>
                        <a:rPr lang="en-US" sz="900" dirty="0"/>
                        <a:t> + </a:t>
                      </a:r>
                      <a:r>
                        <a:rPr lang="en-US" sz="900" dirty="0" err="1"/>
                        <a:t>ReLU</a:t>
                      </a:r>
                      <a:r>
                        <a:rPr lang="en-US" sz="900" dirty="0"/>
                        <a:t> + Dropout → </a:t>
                      </a:r>
                      <a:r>
                        <a:rPr lang="en-US" sz="900" dirty="0" err="1"/>
                        <a:t>Softmax</a:t>
                      </a:r>
                      <a:r>
                        <a:rPr lang="en-US" sz="900" dirty="0"/>
                        <a:t> emotion logits.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444068417"/>
                  </a:ext>
                </a:extLst>
              </a:tr>
              <a:tr h="4622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🔀 </a:t>
                      </a:r>
                      <a:r>
                        <a:rPr lang="en-IN" sz="900" b="1" dirty="0"/>
                        <a:t>Multimodal Fusion</a:t>
                      </a:r>
                      <a:endParaRPr lang="en-IN" sz="900" dirty="0"/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/>
                        <a:t>Fused at feature level — spike representations from each modality concatenated and passed through shared SNN + classifier.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90491692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CD7CD2-3A93-09C1-DC14-6C20F1FAA6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695470"/>
              </p:ext>
            </p:extLst>
          </p:nvPr>
        </p:nvGraphicFramePr>
        <p:xfrm>
          <a:off x="5938982" y="3333714"/>
          <a:ext cx="5950527" cy="3171423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1983509">
                  <a:extLst>
                    <a:ext uri="{9D8B030D-6E8A-4147-A177-3AD203B41FA5}">
                      <a16:colId xmlns:a16="http://schemas.microsoft.com/office/drawing/2014/main" val="2676036305"/>
                    </a:ext>
                  </a:extLst>
                </a:gridCol>
                <a:gridCol w="1983509">
                  <a:extLst>
                    <a:ext uri="{9D8B030D-6E8A-4147-A177-3AD203B41FA5}">
                      <a16:colId xmlns:a16="http://schemas.microsoft.com/office/drawing/2014/main" val="1314662155"/>
                    </a:ext>
                  </a:extLst>
                </a:gridCol>
                <a:gridCol w="1983509">
                  <a:extLst>
                    <a:ext uri="{9D8B030D-6E8A-4147-A177-3AD203B41FA5}">
                      <a16:colId xmlns:a16="http://schemas.microsoft.com/office/drawing/2014/main" val="3711709654"/>
                    </a:ext>
                  </a:extLst>
                </a:gridCol>
              </a:tblGrid>
              <a:tr h="307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Component</a:t>
                      </a:r>
                      <a:endParaRPr lang="en-IN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Function</a:t>
                      </a:r>
                      <a:endParaRPr lang="en-IN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Advantage</a:t>
                      </a:r>
                      <a:endParaRPr lang="en-IN" sz="105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4115559"/>
                  </a:ext>
                </a:extLst>
              </a:tr>
              <a:tr h="691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🧱 </a:t>
                      </a:r>
                      <a:r>
                        <a:rPr lang="en-IN" sz="1050" b="1" dirty="0"/>
                        <a:t>CNN Encoder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Learns spatial &amp; short-term temporal features from input modalities.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Robust low-level feature extraction.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82776"/>
                  </a:ext>
                </a:extLst>
              </a:tr>
              <a:tr h="499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⚡ </a:t>
                      </a:r>
                      <a:r>
                        <a:rPr lang="en-IN" sz="1050" b="1" dirty="0"/>
                        <a:t>LIF Neurons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Implements biologically-inspired spiking dynamics (β, </a:t>
                      </a:r>
                      <a:r>
                        <a:rPr lang="en-US" sz="1050" dirty="0" err="1"/>
                        <a:t>v_th</a:t>
                      </a:r>
                      <a:r>
                        <a:rPr lang="en-US" sz="1050" dirty="0"/>
                        <a:t>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Captures long-term temporal dependencies efficiently.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000224"/>
                  </a:ext>
                </a:extLst>
              </a:tr>
              <a:tr h="499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🔁 </a:t>
                      </a:r>
                      <a:r>
                        <a:rPr lang="en-IN" sz="1050" b="1" dirty="0"/>
                        <a:t>Hybrid Readout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Concatenates spike rate and membrane potential.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Combines temporal sparsity + stability.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9976161"/>
                  </a:ext>
                </a:extLst>
              </a:tr>
              <a:tr h="6910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🧩 </a:t>
                      </a:r>
                      <a:r>
                        <a:rPr lang="en-IN" sz="1050" b="1" dirty="0"/>
                        <a:t>Multimodal Fusion</a:t>
                      </a:r>
                      <a:endParaRPr lang="en-IN" sz="105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/>
                        <a:t>Late fusion of spike representations.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/>
                        <a:t>Allows cross-modal synergy while preserving modality independence.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0598214"/>
                  </a:ext>
                </a:extLst>
              </a:tr>
              <a:tr h="307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/>
                        <a:t>🧪 </a:t>
                      </a:r>
                      <a:r>
                        <a:rPr lang="en-IN" sz="1050" b="1"/>
                        <a:t>Learnable Thresholds</a:t>
                      </a:r>
                      <a:endParaRPr lang="en-IN" sz="105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Configurable neuron dynamics.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dirty="0"/>
                        <a:t>Adaptive temporal sensitivity.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1480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1C2E0C8-CEC5-2309-5B3C-2280A277E59F}"/>
              </a:ext>
            </a:extLst>
          </p:cNvPr>
          <p:cNvSpPr txBox="1"/>
          <p:nvPr/>
        </p:nvSpPr>
        <p:spPr>
          <a:xfrm>
            <a:off x="1159163" y="1814117"/>
            <a:ext cx="98736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Overview</a:t>
            </a:r>
          </a:p>
          <a:p>
            <a:r>
              <a:rPr lang="en-US" dirty="0"/>
              <a:t>Combines </a:t>
            </a:r>
            <a:r>
              <a:rPr lang="en-US" b="1" dirty="0"/>
              <a:t>convolutional feature extraction</a:t>
            </a:r>
            <a:r>
              <a:rPr lang="en-US" dirty="0"/>
              <a:t> with </a:t>
            </a:r>
            <a:r>
              <a:rPr lang="en-US" b="1" dirty="0"/>
              <a:t>spike-based temporal processing</a:t>
            </a:r>
            <a:r>
              <a:rPr lang="en-US" dirty="0"/>
              <a:t> for robust and energy-efficient emotion classification from </a:t>
            </a:r>
            <a:r>
              <a:rPr lang="en-US" i="1" dirty="0"/>
              <a:t>audio–video–text</a:t>
            </a:r>
            <a:r>
              <a:rPr lang="en-US" dirty="0"/>
              <a:t> streams.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0990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09695-5CF4-F0DC-76A7-FEE67D4A1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Comparison with S-CMRL (Architecture)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191FB3-FD36-E5ED-E926-7A88FCBE53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6139583"/>
              </p:ext>
            </p:extLst>
          </p:nvPr>
        </p:nvGraphicFramePr>
        <p:xfrm>
          <a:off x="838200" y="1740131"/>
          <a:ext cx="10515600" cy="310896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3117621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3375686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64804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Aspect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S-CMRL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Proposed CNN–SNN Hybrid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4445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Modalities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Audio + Video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Audio + Video +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02714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Core Mechanism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Transformer-based 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CNN feature encoder + LIF spiking temporal 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864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Fusion Level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Semantic-level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Spike-level (feature fusion)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1699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Temporal Encoding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Biological time dynamics (membrane integration)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5563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Energy Efficiency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High (event-driven computation)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78698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Robustness to Noise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Higher (sparse temporal coding)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42321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C6AA6A6-A99B-9A2E-07BE-862B64385960}"/>
              </a:ext>
            </a:extLst>
          </p:cNvPr>
          <p:cNvSpPr txBox="1"/>
          <p:nvPr/>
        </p:nvSpPr>
        <p:spPr>
          <a:xfrm>
            <a:off x="838200" y="5089237"/>
            <a:ext cx="10515600" cy="15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Key Advantages</a:t>
            </a:r>
          </a:p>
          <a:p>
            <a:r>
              <a:rPr lang="en-IN" b="1" dirty="0"/>
              <a:t>Temporal fidelity:</a:t>
            </a:r>
            <a:r>
              <a:rPr lang="en-IN" dirty="0"/>
              <a:t> LIF neurons model emotional transitions more naturally.</a:t>
            </a:r>
          </a:p>
          <a:p>
            <a:r>
              <a:rPr lang="en-IN" b="1" dirty="0"/>
              <a:t>Energy-efficient:</a:t>
            </a:r>
            <a:r>
              <a:rPr lang="en-IN" dirty="0"/>
              <a:t> Spike-based updates reduce dense computations vs. ANN.</a:t>
            </a:r>
          </a:p>
          <a:p>
            <a:r>
              <a:rPr lang="en-IN" b="1" dirty="0"/>
              <a:t>Robust multimodal fusion:</a:t>
            </a:r>
            <a:r>
              <a:rPr lang="en-IN" dirty="0"/>
              <a:t> Spike-rate fusion aligns cross-modal temporal features.</a:t>
            </a:r>
          </a:p>
          <a:p>
            <a:r>
              <a:rPr lang="en-IN" b="1" dirty="0"/>
              <a:t>Hybrid readout:</a:t>
            </a:r>
            <a:r>
              <a:rPr lang="en-IN" dirty="0"/>
              <a:t> Provides both stability and fine-grained temporal discrimination.</a:t>
            </a:r>
          </a:p>
        </p:txBody>
      </p:sp>
    </p:spTree>
    <p:extLst>
      <p:ext uri="{BB962C8B-B14F-4D97-AF65-F5344CB8AC3E}">
        <p14:creationId xmlns:p14="http://schemas.microsoft.com/office/powerpoint/2010/main" val="3239748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109F7-0E05-A4F6-5069-9CB29C1A4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Performance Comparison: Proposed CNN–SNN Hybrid vs. S-CMRL and Monomodal Baselines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31B3F18-0B1F-E9B5-8ACF-92AD282CD2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933836"/>
              </p:ext>
            </p:extLst>
          </p:nvPr>
        </p:nvGraphicFramePr>
        <p:xfrm>
          <a:off x="838200" y="1690688"/>
          <a:ext cx="10515600" cy="16459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7123819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0461666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Component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Description</a:t>
                      </a:r>
                      <a:endParaRPr lang="en-IN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277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Datasets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CREMA-D + RAVDESS both transcribed for multimodal emotion recognition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070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Modalities Used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Audio + Video + Text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337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Metrics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Accuracy, Loss, Precision (Macro), F1 (Macro), Energy Efficiency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2058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Environment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PyTorch</a:t>
                      </a:r>
                      <a:r>
                        <a:rPr lang="en-US" sz="1200" dirty="0"/>
                        <a:t> + </a:t>
                      </a:r>
                      <a:r>
                        <a:rPr lang="en-US" sz="1200" dirty="0" err="1"/>
                        <a:t>snnTorch</a:t>
                      </a:r>
                      <a:r>
                        <a:rPr lang="en-US" sz="1200" dirty="0"/>
                        <a:t> on RTX GPU (30 epochs, early stopping)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1743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Goal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Compare CNN–SNN Hybrid vs S-CMRL vs Monomodal Baselines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358881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CD48597-591D-0164-055B-590E2DE3B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56310"/>
              </p:ext>
            </p:extLst>
          </p:nvPr>
        </p:nvGraphicFramePr>
        <p:xfrm>
          <a:off x="838200" y="3429000"/>
          <a:ext cx="10515600" cy="1971461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168400">
                  <a:extLst>
                    <a:ext uri="{9D8B030D-6E8A-4147-A177-3AD203B41FA5}">
                      <a16:colId xmlns:a16="http://schemas.microsoft.com/office/drawing/2014/main" val="317586233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00916516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749158512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1925211249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866184655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56275517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770160364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4082044058"/>
                    </a:ext>
                  </a:extLst>
                </a:gridCol>
                <a:gridCol w="1168400">
                  <a:extLst>
                    <a:ext uri="{9D8B030D-6E8A-4147-A177-3AD203B41FA5}">
                      <a16:colId xmlns:a16="http://schemas.microsoft.com/office/drawing/2014/main" val="2144841292"/>
                    </a:ext>
                  </a:extLst>
                </a:gridCol>
              </a:tblGrid>
              <a:tr h="429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Model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Modalities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Architecture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Accuracy (%)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Precision (Macro)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F1 (Macro)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Precision (Weighted)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F1 (Weighted)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Loss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2778057813"/>
                  </a:ext>
                </a:extLst>
              </a:tr>
              <a:tr h="529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🎯 </a:t>
                      </a:r>
                      <a:r>
                        <a:rPr lang="en-IN" sz="1100" b="1"/>
                        <a:t>Proposed CNN–SNN Hybrid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Audio + Video + Text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CNN + LIF + Hybrid Readout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92.68</a:t>
                      </a:r>
                      <a:endParaRPr lang="en-IN" sz="110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0.9268</a:t>
                      </a:r>
                      <a:endParaRPr lang="en-IN" sz="110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0.9268</a:t>
                      </a:r>
                      <a:endParaRPr lang="en-IN" sz="110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0.9268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0.9268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0.20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517638036"/>
                  </a:ext>
                </a:extLst>
              </a:tr>
              <a:tr h="529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🎧 </a:t>
                      </a:r>
                      <a:r>
                        <a:rPr lang="en-IN" sz="1100" b="1"/>
                        <a:t>Monomodal (Audio Only)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Audio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CNN–SNN Hybrid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85.4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0.0281</a:t>
                      </a:r>
                      <a:endParaRPr lang="en-IN" sz="110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0.0481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0.0285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0.0487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0.32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92007734"/>
                  </a:ext>
                </a:extLst>
              </a:tr>
              <a:tr h="4299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🎥 </a:t>
                      </a:r>
                      <a:r>
                        <a:rPr lang="en-IN" sz="1100" b="1"/>
                        <a:t>S-CMRL (Baseline)</a:t>
                      </a:r>
                      <a:endParaRPr lang="en-IN" sz="110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Audio + Video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Transformer + Residual Fusion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88.9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0.883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0.881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0.883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0.881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0.28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62940610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C67E9C4-3B7B-BA44-82E7-BBAD8366399B}"/>
              </a:ext>
            </a:extLst>
          </p:cNvPr>
          <p:cNvSpPr txBox="1"/>
          <p:nvPr/>
        </p:nvSpPr>
        <p:spPr>
          <a:xfrm>
            <a:off x="838200" y="5569545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“The CNN–SNN Hybrid achieves 92.68 % accuracy and 0.93 macro F1, vastly outperforming S-CMRL (88.9 %) and a monomodal spiking baseline (F1 ≈ 0.05). This demonstrates that multi-modality and hybrid spike readout are essential for robust emotion recognition.”</a:t>
            </a:r>
          </a:p>
        </p:txBody>
      </p:sp>
    </p:spTree>
    <p:extLst>
      <p:ext uri="{BB962C8B-B14F-4D97-AF65-F5344CB8AC3E}">
        <p14:creationId xmlns:p14="http://schemas.microsoft.com/office/powerpoint/2010/main" val="13082095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E7366-4CCD-5DBD-0DFF-8EA36425D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Energy Efficiency &amp; Latency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AA2C0-21CF-F001-E03B-19F8F7958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6934"/>
            <a:ext cx="10515600" cy="760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Objective</a:t>
            </a:r>
          </a:p>
          <a:p>
            <a:r>
              <a:rPr lang="en-US" sz="1400" dirty="0"/>
              <a:t>To evaluate computational and temporal efficiency of the proposed </a:t>
            </a:r>
            <a:r>
              <a:rPr lang="en-US" sz="1400" b="1" dirty="0"/>
              <a:t>Multimodal CNN–SNN</a:t>
            </a:r>
            <a:r>
              <a:rPr lang="en-US" sz="1400" dirty="0"/>
              <a:t> against </a:t>
            </a:r>
            <a:r>
              <a:rPr lang="en-US" sz="1400" b="1" dirty="0"/>
              <a:t>ANN and S-CMRL</a:t>
            </a:r>
            <a:r>
              <a:rPr lang="en-US" sz="1400" dirty="0"/>
              <a:t> baselines.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1BD77D-7AF8-6F6F-821C-B0251264EC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99683"/>
              </p:ext>
            </p:extLst>
          </p:nvPr>
        </p:nvGraphicFramePr>
        <p:xfrm>
          <a:off x="838200" y="2207491"/>
          <a:ext cx="10515600" cy="12954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2135794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1729144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51197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Metric</a:t>
                      </a:r>
                      <a:endParaRPr lang="en-IN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Description</a:t>
                      </a:r>
                      <a:endParaRPr lang="en-IN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Relevance</a:t>
                      </a:r>
                      <a:endParaRPr lang="en-IN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927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Energy per Inference (EPI)</a:t>
                      </a:r>
                      <a:endParaRPr lang="en-IN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Approx. energy consumed during a single forward pass.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Measures biological and hardware efficiency.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804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Latency (ms/sample)</a:t>
                      </a:r>
                      <a:endParaRPr lang="en-IN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Average time to process one multimodal input.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Affects real-time usability.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925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MAC Operations (M)</a:t>
                      </a:r>
                      <a:endParaRPr lang="en-IN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Multiply–accumulate count.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Proxy for compute intensity.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24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/>
                        <a:t>Memory Footprint (MB)</a:t>
                      </a:r>
                      <a:endParaRPr lang="en-IN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GPU memory used during inference.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Reflects deployment feasibility.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463657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C6F772A-9837-048C-F005-C4F844138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899456"/>
              </p:ext>
            </p:extLst>
          </p:nvPr>
        </p:nvGraphicFramePr>
        <p:xfrm>
          <a:off x="838194" y="3723443"/>
          <a:ext cx="10515603" cy="214969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317777818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3903634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69717004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6892154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38932970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461497730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914137039"/>
                    </a:ext>
                  </a:extLst>
                </a:gridCol>
              </a:tblGrid>
              <a:tr h="438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Model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Architecture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Accuracy (%)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Energy (EPI, normalized)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Latency (ms)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MAC Ops (×10⁶)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Memory (MB)</a:t>
                      </a:r>
                      <a:endParaRPr lang="en-IN" sz="1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775577"/>
                  </a:ext>
                </a:extLst>
              </a:tr>
              <a:tr h="626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S-CMRL (Baseline)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CNN + Attention Fusion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88.9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1.00×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1,480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1,240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7072343"/>
                  </a:ext>
                </a:extLst>
              </a:tr>
              <a:tr h="438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Audio-Only SNN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CNN + LIF (mono)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85.4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0.55×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610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830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3964857"/>
                  </a:ext>
                </a:extLst>
              </a:tr>
              <a:tr h="626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Multimodal CNN–SNN (Ours)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CNN + LIF + Hybrid Readout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92.68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0.43×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36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510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790</a:t>
                      </a: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1586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7319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B6984-455B-3AE6-3DB5-603F240F0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470"/>
            <a:ext cx="10515600" cy="71553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Key Observations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D1DC0-BEA3-45AB-D825-89F5BBE90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6237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Energy Reduction:</a:t>
            </a:r>
            <a:br>
              <a:rPr lang="en-IN" dirty="0"/>
            </a:br>
            <a:r>
              <a:rPr lang="en-IN" dirty="0"/>
              <a:t>Our SNN achieves </a:t>
            </a:r>
            <a:r>
              <a:rPr lang="en-IN" b="1" dirty="0"/>
              <a:t>~57% lower energy</a:t>
            </a:r>
            <a:r>
              <a:rPr lang="en-IN" dirty="0"/>
              <a:t> consumption vs. S-CMRL, due to event-driven sparse spike propagation.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Latency Improvement:</a:t>
            </a:r>
            <a:br>
              <a:rPr lang="en-IN" dirty="0"/>
            </a:br>
            <a:r>
              <a:rPr lang="en-IN" dirty="0"/>
              <a:t>Temporal coding enables parallel spike updates, resulting in </a:t>
            </a:r>
            <a:r>
              <a:rPr lang="en-IN" b="1" dirty="0"/>
              <a:t>~50% lower inference latency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Efficient Feature Reuse:</a:t>
            </a:r>
            <a:br>
              <a:rPr lang="en-IN" dirty="0"/>
            </a:br>
            <a:r>
              <a:rPr lang="en-IN" dirty="0"/>
              <a:t>Membrane potential retains temporal context, reducing redundant computations across frames.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Smaller Memory Footprint:</a:t>
            </a:r>
            <a:br>
              <a:rPr lang="en-IN" dirty="0"/>
            </a:br>
            <a:r>
              <a:rPr lang="en-IN" dirty="0"/>
              <a:t>Reduced intermediate activation maps and spiking sparsity yield </a:t>
            </a:r>
            <a:r>
              <a:rPr lang="en-IN" b="1" dirty="0"/>
              <a:t>~35% lower memory usage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4396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5CBC0-06E3-4D07-879B-0721C692E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EF141-BDC5-A7A3-3CE8-BFBD261C4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Goal:</a:t>
            </a:r>
            <a:br>
              <a:rPr lang="en-IN" dirty="0"/>
            </a:br>
            <a:r>
              <a:rPr lang="en-IN" dirty="0"/>
              <a:t>Develop a </a:t>
            </a:r>
            <a:r>
              <a:rPr lang="en-IN" b="1" dirty="0"/>
              <a:t>Multimodal Spiking Neural Network (SNN)</a:t>
            </a:r>
            <a:r>
              <a:rPr lang="en-IN" dirty="0"/>
              <a:t> integrating </a:t>
            </a:r>
            <a:r>
              <a:rPr lang="en-IN" b="1" dirty="0"/>
              <a:t>audio, video, and text</a:t>
            </a:r>
            <a:r>
              <a:rPr lang="en-IN" dirty="0"/>
              <a:t> modalities for emotion classification.</a:t>
            </a:r>
          </a:p>
          <a:p>
            <a:pPr marL="0" indent="0">
              <a:buNone/>
            </a:pPr>
            <a:r>
              <a:rPr lang="en-IN" b="1" dirty="0"/>
              <a:t>Approach:</a:t>
            </a:r>
            <a:endParaRPr lang="en-IN" dirty="0"/>
          </a:p>
          <a:p>
            <a:r>
              <a:rPr lang="en-IN" dirty="0"/>
              <a:t>Stage A–C pipeline for </a:t>
            </a:r>
            <a:r>
              <a:rPr lang="en-IN" b="1" dirty="0"/>
              <a:t>feature extraction, caching, and spike encoding</a:t>
            </a:r>
            <a:r>
              <a:rPr lang="en-IN" dirty="0"/>
              <a:t>.</a:t>
            </a:r>
          </a:p>
          <a:p>
            <a:r>
              <a:rPr lang="en-IN" dirty="0"/>
              <a:t>Hybrid </a:t>
            </a:r>
            <a:r>
              <a:rPr lang="en-IN" b="1" dirty="0"/>
              <a:t>CNN–SNN model</a:t>
            </a:r>
            <a:r>
              <a:rPr lang="en-IN" dirty="0"/>
              <a:t> with </a:t>
            </a:r>
            <a:r>
              <a:rPr lang="en-IN" b="1" dirty="0"/>
              <a:t>Leaky Integrate-and-Fire neurons</a:t>
            </a:r>
            <a:r>
              <a:rPr lang="en-IN" dirty="0"/>
              <a:t> and </a:t>
            </a:r>
            <a:r>
              <a:rPr lang="en-IN" b="1" dirty="0"/>
              <a:t>hybrid readout</a:t>
            </a:r>
            <a:r>
              <a:rPr lang="en-IN" dirty="0"/>
              <a:t>.</a:t>
            </a:r>
          </a:p>
          <a:p>
            <a:r>
              <a:rPr lang="en-IN" dirty="0"/>
              <a:t>Comparison with </a:t>
            </a:r>
            <a:r>
              <a:rPr lang="en-IN" b="1" dirty="0"/>
              <a:t>S-CMRL</a:t>
            </a:r>
            <a:r>
              <a:rPr lang="en-IN" dirty="0"/>
              <a:t> (state-of-the-art ANN-based contrastive multimodal model) and </a:t>
            </a:r>
            <a:r>
              <a:rPr lang="en-IN" b="1" dirty="0"/>
              <a:t>monomodal SNN</a:t>
            </a:r>
            <a:r>
              <a:rPr lang="en-IN" dirty="0"/>
              <a:t> baselines.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1026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05A1-95A3-B523-13ED-443649B3D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Highlights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3230073-8B03-91E6-25CA-46A032760F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4164828"/>
              </p:ext>
            </p:extLst>
          </p:nvPr>
        </p:nvGraphicFramePr>
        <p:xfrm>
          <a:off x="838200" y="2423160"/>
          <a:ext cx="10515600" cy="20116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648091908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16640019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103041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5099357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32533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Accuracy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Precision (macro)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F1 (macro)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Energy Reduction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89885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S-CMRL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88.9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960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Audio-only SNN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85.4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0.028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~45%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015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Proposed Multimodal CNN–SNN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92.68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0.9268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0.9268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~57%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6283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B3C22ED-2F15-E299-F310-A2E193A7B48F}"/>
              </a:ext>
            </a:extLst>
          </p:cNvPr>
          <p:cNvSpPr txBox="1"/>
          <p:nvPr/>
        </p:nvSpPr>
        <p:spPr>
          <a:xfrm>
            <a:off x="1440873" y="5255491"/>
            <a:ext cx="9799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Outperforms S-CMRL by </a:t>
            </a:r>
            <a:r>
              <a:rPr lang="en-US" b="1" dirty="0"/>
              <a:t>+3.7% accuracy</a:t>
            </a:r>
            <a:r>
              <a:rPr lang="en-US" dirty="0"/>
              <a:t> with significantly lower latency and energy cost.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5777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4ECC3-8ECF-50C0-5723-E00008CB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C7F7C-5C60-7E9F-D8F5-ED16CFA40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Novel Multimodal SNN Pipeline:</a:t>
            </a:r>
            <a:br>
              <a:rPr lang="en-IN" dirty="0"/>
            </a:br>
            <a:r>
              <a:rPr lang="en-IN" dirty="0"/>
              <a:t>First system integrating audio, text, and video under a unified spike-driven architecture.</a:t>
            </a:r>
          </a:p>
          <a:p>
            <a:pPr marL="0" indent="0">
              <a:buNone/>
            </a:pPr>
            <a:r>
              <a:rPr lang="en-IN" b="1" dirty="0"/>
              <a:t>Efficient Neuromorphic Design:</a:t>
            </a:r>
            <a:br>
              <a:rPr lang="en-IN" dirty="0"/>
            </a:br>
            <a:r>
              <a:rPr lang="en-IN" dirty="0"/>
              <a:t>Event-driven LIF neurons reduce redundant computations and power consumption.</a:t>
            </a:r>
          </a:p>
          <a:p>
            <a:pPr marL="0" indent="0">
              <a:buNone/>
            </a:pPr>
            <a:r>
              <a:rPr lang="en-IN" b="1" dirty="0"/>
              <a:t>Hybrid Readout Layer:</a:t>
            </a:r>
            <a:br>
              <a:rPr lang="en-IN" dirty="0"/>
            </a:br>
            <a:r>
              <a:rPr lang="en-IN" dirty="0"/>
              <a:t>Combines spike-rate and membrane states for improved stability and precision.</a:t>
            </a:r>
          </a:p>
          <a:p>
            <a:pPr marL="0" indent="0">
              <a:buNone/>
            </a:pPr>
            <a:r>
              <a:rPr lang="en-IN" b="1" dirty="0"/>
              <a:t>Comparative Benchmark:</a:t>
            </a:r>
            <a:br>
              <a:rPr lang="en-IN" dirty="0"/>
            </a:br>
            <a:r>
              <a:rPr lang="en-IN" dirty="0"/>
              <a:t>Empirical validation vs. ANN (S-CMRL) and monomodal SNN setups.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664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1643</Words>
  <Application>Microsoft Office PowerPoint</Application>
  <PresentationFormat>Widescreen</PresentationFormat>
  <Paragraphs>286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“Multimodal Spiking Neural Network for Emotion Recognition:</vt:lpstr>
      <vt:lpstr>Main Problem Statement</vt:lpstr>
      <vt:lpstr>Artificial Neural Networks vs. Spiking Neural Networks</vt:lpstr>
      <vt:lpstr>Data Pipeline Overview</vt:lpstr>
      <vt:lpstr>Spike Train Generation &amp; Integration</vt:lpstr>
      <vt:lpstr>Multimodal CNN–SNN Hybrid Model for Emotion Recognition</vt:lpstr>
      <vt:lpstr>Comparison with S-CMRL (Architecture)</vt:lpstr>
      <vt:lpstr>Performance Comparison: Proposed CNN–SNN Hybrid vs. S-CMRL and Monomodal Baselines</vt:lpstr>
      <vt:lpstr>Energy Efficiency &amp; Latency Comparison</vt:lpstr>
      <vt:lpstr>Key Observations </vt:lpstr>
      <vt:lpstr>Conclusion &amp; Future Work</vt:lpstr>
      <vt:lpstr>Performance Highlights</vt:lpstr>
      <vt:lpstr>Key Contributions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 george</dc:creator>
  <cp:lastModifiedBy>marc george</cp:lastModifiedBy>
  <cp:revision>1</cp:revision>
  <dcterms:created xsi:type="dcterms:W3CDTF">2025-11-08T06:56:29Z</dcterms:created>
  <dcterms:modified xsi:type="dcterms:W3CDTF">2025-11-08T08:57:37Z</dcterms:modified>
</cp:coreProperties>
</file>